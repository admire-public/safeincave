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officeDocument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  <p:defaultTextStyle>
    <a:defPPr>
      <a:defRPr lang="en-US">
        <a:latin typeface="Aptos"/>
      </a:defRPr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image" Target="../media/image2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Relationship Id="rId3" Type="http://schemas.openxmlformats.org/officeDocument/2006/relationships/image" Target="../media/image4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image" Target="../media/image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15A40"/>
          </a:solidFill>
          <a:ln>
            <a:noFill/>
          </a:ln>
        </p:spPr>
      </p:sp>
      <p:pic>
        <p:nvPicPr>
          <p:cNvPr id="3" name="SafeInCav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47472"/>
            <a:ext cx="3429000" cy="749808"/>
          </a:xfrm>
          <a:prstGeom prst="rect">
            <a:avLst/>
          </a:prstGeom>
        </p:spPr>
      </p:pic>
      <p:sp>
        <p:nvSpPr>
          <p:cNvPr id="4" name="title"/>
          <p:cNvSpPr/>
          <p:nvPr/>
        </p:nvSpPr>
        <p:spPr>
          <a:xfrm>
            <a:off x="566928" y="1298448"/>
            <a:ext cx="534924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4300" b="1">
                <a:solidFill>
                  <a:srgbClr val="102A43"/>
                </a:solidFill>
                <a:latin typeface="Aptos Display"/>
                <a:cs typeface="Aptos Display"/>
              </a:rPr>
              <a:t>SafeInCave</a:t>
            </a:r>
          </a:p>
        </p:txBody>
      </p:sp>
      <p:sp>
        <p:nvSpPr>
          <p:cNvPr id="5" name="subtitle"/>
          <p:cNvSpPr/>
          <p:nvPr/>
        </p:nvSpPr>
        <p:spPr>
          <a:xfrm>
            <a:off x="594360" y="1975104"/>
            <a:ext cx="516636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900">
                <a:solidFill>
                  <a:srgbClr val="334155"/>
                </a:solidFill>
                <a:latin typeface="Aptos"/>
                <a:cs typeface="Aptos"/>
              </a:rPr>
              <a:t>Open-source 3D finite-element simulator for salt cavern performance assessment</a:t>
            </a:r>
          </a:p>
        </p:txBody>
      </p:sp>
      <p:sp>
        <p:nvSpPr>
          <p:cNvPr id="6" name="Purpose"/>
          <p:cNvSpPr/>
          <p:nvPr/>
        </p:nvSpPr>
        <p:spPr>
          <a:xfrm>
            <a:off x="594360" y="3035808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  <a:cs typeface="Aptos"/>
              </a:rPr>
              <a:t>Purpose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Evaluate salt caverns under pressure, temperature, and operational histories.</a:t>
            </a:r>
          </a:p>
        </p:txBody>
      </p:sp>
      <p:sp>
        <p:nvSpPr>
          <p:cNvPr id="7" name="Core engine"/>
          <p:cNvSpPr/>
          <p:nvPr/>
        </p:nvSpPr>
        <p:spPr>
          <a:xfrm>
            <a:off x="594360" y="3931920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1D4ED8"/>
                </a:solidFill>
                <a:latin typeface="Aptos"/>
                <a:cs typeface="Aptos"/>
              </a:rPr>
              <a:t>Core engine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Python package built around FEniCSx finite elements and XDMF outputs.</a:t>
            </a:r>
          </a:p>
        </p:txBody>
      </p:sp>
      <p:sp>
        <p:nvSpPr>
          <p:cNvPr id="8" name="Why it matters"/>
          <p:cNvSpPr/>
          <p:nvPr/>
        </p:nvSpPr>
        <p:spPr>
          <a:xfrm>
            <a:off x="594360" y="4828032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B45309"/>
                </a:solidFill>
                <a:latin typeface="Aptos"/>
                <a:cs typeface="Aptos"/>
              </a:rPr>
              <a:t>Why it matters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Transparent, auditable simulations for research and industrial workflows.</a:t>
            </a:r>
          </a:p>
        </p:txBody>
      </p:sp>
      <p:sp>
        <p:nvSpPr>
          <p:cNvPr id="20" name="cavern geometry frame"/>
          <p:cNvSpPr/>
          <p:nvPr/>
        </p:nvSpPr>
        <p:spPr>
          <a:xfrm>
            <a:off x="6263640" y="658368"/>
            <a:ext cx="5230368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</p:sp>
      <p:pic>
        <p:nvPicPr>
          <p:cNvPr id="21" name="cavern geome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316075"/>
            <a:ext cx="4974336" cy="1786937"/>
          </a:xfrm>
          <a:prstGeom prst="rect">
            <a:avLst/>
          </a:prstGeom>
        </p:spPr>
      </p:pic>
      <p:sp>
        <p:nvSpPr>
          <p:cNvPr id="22" name="cavern geometry caption"/>
          <p:cNvSpPr/>
          <p:nvPr/>
        </p:nvSpPr>
        <p:spPr>
          <a:xfrm>
            <a:off x="6391656" y="5596128"/>
            <a:ext cx="49743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  <a:cs typeface="Aptos"/>
              </a:rPr>
              <a:t>Salt cavern geometry and named domains from the documentation examples.</a:t>
            </a:r>
          </a:p>
        </p:txBody>
      </p:sp>
      <p:sp>
        <p:nvSpPr>
          <p:cNvPr id="30" name="footer"/>
          <p:cNvSpPr/>
          <p:nvPr/>
        </p:nvSpPr>
        <p:spPr>
          <a:xfrm>
            <a:off x="566928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800">
                <a:solidFill>
                  <a:srgbClr val="7B8794"/>
                </a:solidFill>
                <a:latin typeface="Aptos"/>
                <a:cs typeface="Aptos"/>
              </a:rPr>
              <a:t>SafeInCave intro - based on README, docs, LICENSE, and pyproject.toml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19456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566928" y="438912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>
                <a:solidFill>
                  <a:srgbClr val="102A43"/>
                </a:solidFill>
                <a:latin typeface="Aptos"/>
                <a:cs typeface="Aptos"/>
              </a:rPr>
              <a:t>Capabilities at a Glance</a:t>
            </a:r>
          </a:p>
        </p:txBody>
      </p:sp>
      <p:sp>
        <p:nvSpPr>
          <p:cNvPr id="10" name="cavern boundary conditions frame"/>
          <p:cNvSpPr/>
          <p:nvPr/>
        </p:nvSpPr>
        <p:spPr>
          <a:xfrm>
            <a:off x="566928" y="1143000"/>
            <a:ext cx="48920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</p:sp>
      <p:pic>
        <p:nvPicPr>
          <p:cNvPr id="11" name="cavern boundary condi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36370"/>
            <a:ext cx="4636008" cy="1995372"/>
          </a:xfrm>
          <a:prstGeom prst="rect">
            <a:avLst/>
          </a:prstGeom>
        </p:spPr>
      </p:pic>
      <p:sp>
        <p:nvSpPr>
          <p:cNvPr id="12" name="cavern boundary conditions caption"/>
          <p:cNvSpPr/>
          <p:nvPr/>
        </p:nvSpPr>
        <p:spPr>
          <a:xfrm>
            <a:off x="694944" y="4160520"/>
            <a:ext cx="4636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  <a:cs typeface="Aptos"/>
              </a:rPr>
              <a:t>Example cavern setup: geometry, regions, and boundary conditions.</a:t>
            </a:r>
          </a:p>
        </p:txBody>
      </p:sp>
      <p:sp>
        <p:nvSpPr>
          <p:cNvPr id="15" name="constitutive model frame"/>
          <p:cNvSpPr/>
          <p:nvPr/>
        </p:nvSpPr>
        <p:spPr>
          <a:xfrm>
            <a:off x="566928" y="4709160"/>
            <a:ext cx="4892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</p:sp>
      <p:pic>
        <p:nvPicPr>
          <p:cNvPr id="16" name="constitutive 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485" y="4727448"/>
            <a:ext cx="1866925" cy="978408"/>
          </a:xfrm>
          <a:prstGeom prst="rect">
            <a:avLst/>
          </a:prstGeom>
        </p:spPr>
      </p:pic>
      <p:sp>
        <p:nvSpPr>
          <p:cNvPr id="17" name="constitutive model caption"/>
          <p:cNvSpPr/>
          <p:nvPr/>
        </p:nvSpPr>
        <p:spPr>
          <a:xfrm>
            <a:off x="694944" y="5559552"/>
            <a:ext cx="4636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  <a:cs typeface="Aptos"/>
              </a:rPr>
              <a:t>Constitutive modeling examples support salt-creep behavior.</a:t>
            </a:r>
          </a:p>
        </p:txBody>
      </p:sp>
      <p:sp>
        <p:nvSpPr>
          <p:cNvPr id="30" name="Mechanics stripe"/>
          <p:cNvSpPr/>
          <p:nvPr/>
        </p:nvSpPr>
        <p:spPr>
          <a:xfrm>
            <a:off x="5897880" y="1143000"/>
            <a:ext cx="109728" cy="89611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0" name="Mechanics"/>
          <p:cNvSpPr/>
          <p:nvPr/>
        </p:nvSpPr>
        <p:spPr>
          <a:xfrm>
            <a:off x="6044184" y="1143000"/>
            <a:ext cx="53858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  <a:cs typeface="Aptos"/>
              </a:rPr>
              <a:t>Mechanics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Momentum balance, creep, thermal strain, mixed/stabilized FEM.</a:t>
            </a:r>
          </a:p>
        </p:txBody>
      </p:sp>
      <p:sp>
        <p:nvSpPr>
          <p:cNvPr id="31" name="Heat diffusion stripe"/>
          <p:cNvSpPr/>
          <p:nvPr/>
        </p:nvSpPr>
        <p:spPr>
          <a:xfrm>
            <a:off x="5897880" y="2185416"/>
            <a:ext cx="109728" cy="896112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41" name="Heat diffusion"/>
          <p:cNvSpPr/>
          <p:nvPr/>
        </p:nvSpPr>
        <p:spPr>
          <a:xfrm>
            <a:off x="6044184" y="2185416"/>
            <a:ext cx="53858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1D4ED8"/>
                </a:solidFill>
                <a:latin typeface="Aptos"/>
                <a:cs typeface="Aptos"/>
              </a:rPr>
              <a:t>Heat diffusion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Temperature fields, thermal boundary conditions, heat exchange.</a:t>
            </a:r>
          </a:p>
        </p:txBody>
      </p:sp>
      <p:sp>
        <p:nvSpPr>
          <p:cNvPr id="32" name="Fluid thermodynamics stripe"/>
          <p:cNvSpPr/>
          <p:nvPr/>
        </p:nvSpPr>
        <p:spPr>
          <a:xfrm>
            <a:off x="5897880" y="3227832"/>
            <a:ext cx="109728" cy="896112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2" name="Fluid thermodynamics"/>
          <p:cNvSpPr/>
          <p:nvPr/>
        </p:nvSpPr>
        <p:spPr>
          <a:xfrm>
            <a:off x="6044184" y="3227832"/>
            <a:ext cx="53858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B45309"/>
                </a:solidFill>
                <a:latin typeface="Aptos"/>
                <a:cs typeface="Aptos"/>
              </a:rPr>
              <a:t>Fluid thermodynamics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Cavern pressure, temperature, density, mass, heat, and volume histories.</a:t>
            </a:r>
          </a:p>
        </p:txBody>
      </p:sp>
      <p:sp>
        <p:nvSpPr>
          <p:cNvPr id="33" name="Coupled simulators stripe"/>
          <p:cNvSpPr/>
          <p:nvPr/>
        </p:nvSpPr>
        <p:spPr>
          <a:xfrm>
            <a:off x="5897880" y="4270248"/>
            <a:ext cx="109728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3" name="Coupled simulators"/>
          <p:cNvSpPr/>
          <p:nvPr/>
        </p:nvSpPr>
        <p:spPr>
          <a:xfrm>
            <a:off x="6044184" y="4270248"/>
            <a:ext cx="53858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7C3AED"/>
                </a:solidFill>
                <a:latin typeface="Aptos"/>
                <a:cs typeface="Aptos"/>
              </a:rPr>
              <a:t>Coupled simulators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Mechanical, thermal, and thermo-mechanical workflows for single or multiple caverns.</a:t>
            </a:r>
          </a:p>
        </p:txBody>
      </p:sp>
      <p:sp>
        <p:nvSpPr>
          <p:cNvPr id="55" name="examples"/>
          <p:cNvSpPr/>
          <p:nvPr/>
        </p:nvSpPr>
        <p:spPr>
          <a:xfrm>
            <a:off x="5897880" y="5413248"/>
            <a:ext cx="5532120" cy="530352"/>
          </a:xfrm>
          <a:prstGeom prst="rect">
            <a:avLst/>
          </a:prstGeom>
          <a:solidFill>
            <a:srgbClr val="EEF7F6"/>
          </a:solidFill>
          <a:ln w="12700">
            <a:solidFill>
              <a:srgbClr val="C7E6E2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200">
                <a:solidFill>
                  <a:srgbClr val="0F3D3E"/>
                </a:solidFill>
                <a:latin typeface="Aptos"/>
                <a:cs typeface="Aptos"/>
              </a:rPr>
              <a:t>Examples include triaxial tests, cube and cavern models, hydrogen/methane/water caverns, settlement, and multi-cavern operations.</a:t>
            </a:r>
          </a:p>
        </p:txBody>
      </p:sp>
      <p:sp>
        <p:nvSpPr>
          <p:cNvPr id="70" name="footer"/>
          <p:cNvSpPr/>
          <p:nvPr/>
        </p:nvSpPr>
        <p:spPr>
          <a:xfrm>
            <a:off x="566928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800">
                <a:solidFill>
                  <a:srgbClr val="7B8794"/>
                </a:solidFill>
                <a:latin typeface="Aptos"/>
                <a:cs typeface="Aptos"/>
              </a:rPr>
              <a:t>SafeInCave intro - based on README, docs, LICENSE, and pyproject.toml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19456"/>
          </a:xfrm>
          <a:prstGeom prst="rect">
            <a:avLst/>
          </a:prstGeom>
          <a:solidFill>
            <a:srgbClr val="F15A40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566928" y="43891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>
                <a:solidFill>
                  <a:srgbClr val="102A43"/>
                </a:solidFill>
                <a:latin typeface="Aptos"/>
                <a:cs typeface="Aptos"/>
              </a:rPr>
              <a:t>Open Source: BSD 3-Clause</a:t>
            </a:r>
          </a:p>
        </p:txBody>
      </p:sp>
      <p:pic>
        <p:nvPicPr>
          <p:cNvPr id="4" name="SafeInCav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078992"/>
            <a:ext cx="3246120" cy="713232"/>
          </a:xfrm>
          <a:prstGeom prst="rect">
            <a:avLst/>
          </a:prstGeom>
        </p:spPr>
      </p:pic>
      <p:sp>
        <p:nvSpPr>
          <p:cNvPr id="10" name="cube regions frame"/>
          <p:cNvSpPr/>
          <p:nvPr/>
        </p:nvSpPr>
        <p:spPr>
          <a:xfrm>
            <a:off x="566928" y="2057400"/>
            <a:ext cx="3886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</p:sp>
      <p:pic>
        <p:nvPicPr>
          <p:cNvPr id="11" name="cube reg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170831"/>
            <a:ext cx="3630168" cy="982682"/>
          </a:xfrm>
          <a:prstGeom prst="rect">
            <a:avLst/>
          </a:prstGeom>
        </p:spPr>
      </p:pic>
      <p:sp>
        <p:nvSpPr>
          <p:cNvPr id="12" name="cube regions caption"/>
          <p:cNvSpPr/>
          <p:nvPr/>
        </p:nvSpPr>
        <p:spPr>
          <a:xfrm>
            <a:off x="694944" y="5102352"/>
            <a:ext cx="36301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  <a:latin typeface="Aptos"/>
                <a:cs typeface="Aptos"/>
              </a:rPr>
              <a:t>Open examples expose complete modeling setups, not just final plots.</a:t>
            </a:r>
          </a:p>
        </p:txBody>
      </p:sp>
      <p:sp>
        <p:nvSpPr>
          <p:cNvPr id="22" name="license headline"/>
          <p:cNvSpPr/>
          <p:nvPr/>
        </p:nvSpPr>
        <p:spPr>
          <a:xfrm>
            <a:off x="4800600" y="1078992"/>
            <a:ext cx="62636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900" b="1">
                <a:solidFill>
                  <a:srgbClr val="334155"/>
                </a:solidFill>
                <a:latin typeface="Aptos"/>
                <a:cs typeface="Aptos"/>
              </a:rPr>
              <a:t>What the license enables</a:t>
            </a:r>
          </a:p>
        </p:txBody>
      </p:sp>
      <p:sp>
        <p:nvSpPr>
          <p:cNvPr id="30" name="Use and adapt stripe"/>
          <p:cNvSpPr/>
          <p:nvPr/>
        </p:nvSpPr>
        <p:spPr>
          <a:xfrm>
            <a:off x="4800600" y="1664208"/>
            <a:ext cx="109728" cy="78638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0" name="Use and adapt"/>
          <p:cNvSpPr/>
          <p:nvPr/>
        </p:nvSpPr>
        <p:spPr>
          <a:xfrm>
            <a:off x="4965192" y="1664208"/>
            <a:ext cx="59893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  <a:latin typeface="Aptos"/>
                <a:cs typeface="Aptos"/>
              </a:rPr>
              <a:t>Use and adapt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Permits source and binary use, modification, and redistribution, including proprietary or commercial software.</a:t>
            </a:r>
          </a:p>
        </p:txBody>
      </p:sp>
      <p:sp>
        <p:nvSpPr>
          <p:cNvPr id="31" name="Low-friction collaboration stripe"/>
          <p:cNvSpPr/>
          <p:nvPr/>
        </p:nvSpPr>
        <p:spPr>
          <a:xfrm>
            <a:off x="4800600" y="2596896"/>
            <a:ext cx="109728" cy="786384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41" name="Low-friction collaboration"/>
          <p:cNvSpPr/>
          <p:nvPr/>
        </p:nvSpPr>
        <p:spPr>
          <a:xfrm>
            <a:off x="4965192" y="2596896"/>
            <a:ext cx="59893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1D4ED8"/>
                </a:solidFill>
                <a:latin typeface="Aptos"/>
                <a:cs typeface="Aptos"/>
              </a:rPr>
              <a:t>Low-friction collaboration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Permissive, not copyleft: derivative work does not have to be released as open source solely because it uses SafeInCave.</a:t>
            </a:r>
          </a:p>
        </p:txBody>
      </p:sp>
      <p:sp>
        <p:nvSpPr>
          <p:cNvPr id="32" name="Attribution and risk stripe"/>
          <p:cNvSpPr/>
          <p:nvPr/>
        </p:nvSpPr>
        <p:spPr>
          <a:xfrm>
            <a:off x="4800600" y="3529584"/>
            <a:ext cx="109728" cy="786384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2" name="Attribution and risk"/>
          <p:cNvSpPr/>
          <p:nvPr/>
        </p:nvSpPr>
        <p:spPr>
          <a:xfrm>
            <a:off x="4965192" y="3529584"/>
            <a:ext cx="59893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B45309"/>
                </a:solidFill>
                <a:latin typeface="Aptos"/>
                <a:cs typeface="Aptos"/>
              </a:rPr>
              <a:t>Attribution and risk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Redistributions must keep copyright, license conditions, and disclaimer; project or contributor names cannot imply endorsement.</a:t>
            </a:r>
          </a:p>
        </p:txBody>
      </p:sp>
      <p:sp>
        <p:nvSpPr>
          <p:cNvPr id="33" name="Validation remains essential stripe"/>
          <p:cNvSpPr/>
          <p:nvPr/>
        </p:nvSpPr>
        <p:spPr>
          <a:xfrm>
            <a:off x="4800600" y="4462272"/>
            <a:ext cx="109728" cy="78638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3" name="Validation remains essential"/>
          <p:cNvSpPr/>
          <p:nvPr/>
        </p:nvSpPr>
        <p:spPr>
          <a:xfrm>
            <a:off x="4965192" y="4462272"/>
            <a:ext cx="59893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txBody>
          <a:bodyPr wrap="square" lIns="100584" tIns="100584" rIns="100584" bIns="100584" anchor="t">
            <a:normAutofit/>
          </a:bodyPr>
          <a:lstStyle/>
          <a:p>
            <a:pPr algn="l"/>
            <a:r>
              <a:rPr lang="en-US" sz="1500" b="1">
                <a:solidFill>
                  <a:srgbClr val="7C3AED"/>
                </a:solidFill>
                <a:latin typeface="Aptos"/>
                <a:cs typeface="Aptos"/>
              </a:rPr>
              <a:t>Validation remains essential</a:t>
            </a:r>
          </a:p>
          <a:p>
            <a:pPr algn="l"/>
            <a:r>
              <a:rPr lang="en-US" sz="1200">
                <a:solidFill>
                  <a:srgbClr val="334155"/>
                </a:solidFill>
                <a:latin typeface="Aptos"/>
                <a:cs typeface="Aptos"/>
              </a:rPr>
              <a:t>The software is provided as-is, without warranty or liability. Simulation results still need engineering validation.</a:t>
            </a:r>
          </a:p>
        </p:txBody>
      </p:sp>
      <p:sp>
        <p:nvSpPr>
          <p:cNvPr id="60" name="closing"/>
          <p:cNvSpPr/>
          <p:nvPr/>
        </p:nvSpPr>
        <p:spPr>
          <a:xfrm>
            <a:off x="4800600" y="5559552"/>
            <a:ext cx="626364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200">
                <a:solidFill>
                  <a:srgbClr val="7C2D12"/>
                </a:solidFill>
                <a:latin typeface="Aptos"/>
                <a:cs typeface="Aptos"/>
              </a:rPr>
              <a:t>Practical implication: transparent simulations with room for academic review, industrial adoption, and community extension.</a:t>
            </a:r>
          </a:p>
        </p:txBody>
      </p:sp>
      <p:sp>
        <p:nvSpPr>
          <p:cNvPr id="70" name="footer"/>
          <p:cNvSpPr/>
          <p:nvPr/>
        </p:nvSpPr>
        <p:spPr>
          <a:xfrm>
            <a:off x="566928" y="644652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800">
                <a:solidFill>
                  <a:srgbClr val="7B8794"/>
                </a:solidFill>
                <a:latin typeface="Aptos"/>
                <a:cs typeface="Aptos"/>
              </a:rPr>
              <a:t>SafeInCave intro - based on README, docs, LICENSE, and pyproject.toml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InCave">
  <a:themeElements>
    <a:clrScheme name="SafeInCave">
      <a:dk1>
        <a:srgbClr val="102A43"/>
      </a:dk1>
      <a:lt1>
        <a:srgbClr val="F7FAFC"/>
      </a:lt1>
      <a:dk2>
        <a:srgbClr val="334155"/>
      </a:dk2>
      <a:lt2>
        <a:srgbClr val="FFFFFF"/>
      </a:lt2>
      <a:accent1>
        <a:srgbClr val="0F766E"/>
      </a:accent1>
      <a:accent2>
        <a:srgbClr val="F15A40"/>
      </a:accent2>
      <a:accent3>
        <a:srgbClr val="1D4ED8"/>
      </a:accent3>
      <a:accent4>
        <a:srgbClr val="B45309"/>
      </a:accent4>
      <a:accent5>
        <a:srgbClr val="7C3AED"/>
      </a:accent5>
      <a:accent6>
        <a:srgbClr val="64748B"/>
      </a:accent6>
      <a:hlink>
        <a:srgbClr val="1D4ED8"/>
      </a:hlink>
      <a:folHlink>
        <a:srgbClr val="7C3AED"/>
      </a:folHlink>
    </a:clrScheme>
    <a:fontScheme name="SafeInCav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afeInCa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37000"/>
                <a:satMod val="3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100000">
              <a:schemeClr val="phClr">
                <a:shade val="93000"/>
                <a:satMod val="13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tint val="98000"/>
                <a:satMod val="13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SafeInCave deck generator</Application>
  <PresentationFormat>On-screen Show (16:9)</PresentationFormat>
  <Slides>3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SafeInCave Intro Slides</dc:title>
  <dc:subject>Short introduction to SafeInCave</dc:subject>
  <dc:creator>SafeInCave Developers</dc:creator>
  <cp:lastModifiedBy>Codex</cp:lastModifiedBy>
  <dcterms:created xsi:type="dcterms:W3CDTF">2026-06-23T18:39:57Z</dcterms:created>
  <dcterms:modified xsi:type="dcterms:W3CDTF">2026-06-23T18:39:57Z</dcterms:modified>
</cp:coreProperties>
</file>